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2700" cy="685800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2A2A3A"/>
          </a:solidFill>
          <a:ln w="12700">
            <a:solidFill>
              <a:srgbClr val="5555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777799"/>
                </a:solidFill>
                <a:latin typeface="Calibri"/>
              </a:rPr>
              <a:t>[ ФОТО: building.jpg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Г. КЕМЕРОВО ·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463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Инвестиции в спортивную
инфраструктуру Сибири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640080" cy="254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1508760" cy="914400"/>
          </a:xfrm>
          <a:prstGeom prst="rect">
            <a:avLst/>
          </a:prstGeom>
          <a:solidFill>
            <a:srgbClr val="0D1526"/>
          </a:solidFill>
          <a:ln w="12700">
            <a:solidFill>
              <a:srgbClr val="30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191 МЛН 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8B8"/>
                </a:solidFill>
                <a:latin typeface="Calibri"/>
              </a:rPr>
              <a:t>ОБЪЁМ ПРОЕКТА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5303520"/>
            <a:ext cx="1508760" cy="914400"/>
          </a:xfrm>
          <a:prstGeom prst="rect">
            <a:avLst/>
          </a:prstGeom>
          <a:solidFill>
            <a:srgbClr val="0D1526"/>
          </a:solidFill>
          <a:ln w="12700">
            <a:solidFill>
              <a:srgbClr val="30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53492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 ЛЕТ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7607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8B8"/>
                </a:solidFill>
                <a:latin typeface="Calibri"/>
              </a:rPr>
              <a:t>ОКУПАЕМОСТЬ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5303520"/>
            <a:ext cx="1508760" cy="914400"/>
          </a:xfrm>
          <a:prstGeom prst="rect">
            <a:avLst/>
          </a:prstGeom>
          <a:solidFill>
            <a:srgbClr val="0D1526"/>
          </a:solidFill>
          <a:ln w="12700">
            <a:solidFill>
              <a:srgbClr val="30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53492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22% ROI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7607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8B8"/>
                </a:solidFill>
                <a:latin typeface="Calibri"/>
              </a:rPr>
              <a:t>ДОХОДНОСТЬ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О ПРОЕКТЕ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090F"/>
                </a:solidFill>
                <a:latin typeface="Calibri"/>
              </a:rPr>
              <a:t>Спортивно-развлекательный комплекс
в г. Кемерово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560320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7090F"/>
                </a:solidFill>
                <a:latin typeface="Calibri"/>
              </a:rPr>
              <a:t>191 000 000 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749039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ОБЩИЙ ОБЪЁМ ИНВЕСТИЦИЙ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19" y="2286000"/>
            <a:ext cx="19050" cy="254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7639" y="2286000"/>
            <a:ext cx="25400" cy="2743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9" y="2560320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7090F"/>
                </a:solidFill>
                <a:latin typeface="Calibri"/>
              </a:rPr>
              <a:t>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9" y="3749039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ГОДОВАЯ ДОХОДНОСТЬ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58" y="2286000"/>
            <a:ext cx="19050" cy="254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8" y="2286000"/>
            <a:ext cx="25400" cy="2743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38" y="2560320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7090F"/>
                </a:solidFill>
                <a:latin typeface="Calibri"/>
              </a:rPr>
              <a:t>2 500 М²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38" y="3749039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ПЛОЩАДЬ ЗДАНИЯ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О ПРОЕКТЕ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Надёжность недвижимости. Ликвидность бизнеса.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834640" cy="18288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01  ИНВЕСТИЦИИ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~80 000 руб за 1 м² при общем бюджете 191 млн ₽ — ниже рынка при высокой доходности.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45920"/>
            <a:ext cx="2834640" cy="18288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02  ОКУПАЕМОСТЬ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5–6 лет с ROI 22% годовых — одна из лучших доходностей в коммерческой недвижимости Сибири.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2834640" cy="18288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03  ГОТОВЫЙ АРЕНДАТОР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Спортивно-развлекательная ниша, готовые проекты и управляющая компания.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657600"/>
            <a:ext cx="2834640" cy="18288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794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04  ВАРИАНТЫ ВЫХОДА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114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1) Готовый арендный бизнес  2) Отдельный бизнес — спортивный комплекс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32120"/>
            <a:ext cx="5943600" cy="100584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05  ЛИКВИДНАЯ НЕДВИЖИМОСТЬ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Покупка коммерческой недвижимости в центре города по цене 38 000 ₽/м² — в 3–4 раза ниже рынка, с доходностью от 600 ₽/м² в месяц и ежегодным ростом стоимости актива на 10–18%.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ЗДАНИЕ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090F"/>
                </a:solidFill>
                <a:latin typeface="Calibri"/>
              </a:rPr>
              <a:t>Общая стоимость здания — 95 000 000 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03520" cy="4114800"/>
          </a:xfrm>
          <a:prstGeom prst="rect">
            <a:avLst/>
          </a:prstGeom>
          <a:solidFill>
            <a:srgbClr val="EA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— Площадь: 2 500 м²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— Стоимость: 38 000 руб за 1 м²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973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— Центр города, вблизи ТЦ и Леруа Мерлен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— Необходимое количество парковочных мест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278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— Низкая стоимость ремонта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ГОТОВНОСТЬ ЗДАНИЯ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Вентиляция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069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61688"/>
            <a:ext cx="4480560" cy="91440"/>
          </a:xfrm>
          <a:prstGeom prst="rect">
            <a:avLst/>
          </a:prstGeom>
          <a:solidFill>
            <a:srgbClr val="CC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361688"/>
            <a:ext cx="4480560" cy="914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Освещение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80%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64608"/>
            <a:ext cx="4480560" cy="91440"/>
          </a:xfrm>
          <a:prstGeom prst="rect">
            <a:avLst/>
          </a:prstGeom>
          <a:solidFill>
            <a:srgbClr val="CC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864608"/>
            <a:ext cx="3584448" cy="914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Полы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67528"/>
            <a:ext cx="4480560" cy="91440"/>
          </a:xfrm>
          <a:prstGeom prst="rect">
            <a:avLst/>
          </a:prstGeom>
          <a:solidFill>
            <a:srgbClr val="CC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367528"/>
            <a:ext cx="4480560" cy="914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554480"/>
            <a:ext cx="5760720" cy="4114800"/>
          </a:xfrm>
          <a:prstGeom prst="rect">
            <a:avLst/>
          </a:prstGeom>
          <a:solidFill>
            <a:srgbClr val="2A2A3A"/>
          </a:solidFill>
          <a:ln w="12700">
            <a:solidFill>
              <a:srgbClr val="5555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777799"/>
                </a:solidFill>
                <a:latin typeface="Calibri"/>
              </a:rPr>
              <a:t>[ ФОТО: floorplan.jpg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ЛИКВИДНОСТЬ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090F"/>
                </a:solidFill>
                <a:latin typeface="Calibri"/>
              </a:rPr>
              <a:t>Ликвидность объекта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00" cy="1371600"/>
          </a:xfrm>
          <a:prstGeom prst="rect">
            <a:avLst/>
          </a:prstGeom>
          <a:solidFill>
            <a:srgbClr val="EA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7090F"/>
                </a:solidFill>
                <a:latin typeface="Calibri"/>
              </a:rPr>
              <a:t>НАШЕ ПРЕДЛОЖЕНИЕ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Стоимость здания: 38 000 ₽/м²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Доходность: от 600 ₽/м²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486400" cy="1371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7090F"/>
                </a:solidFill>
                <a:latin typeface="Calibri"/>
              </a:rPr>
              <a:t>РЫНОК КЕМЕРОВО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299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Средняя стоимость: 100 000–180 000 ₽/м²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Доходность: 600–1 350 ₽/м²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090F"/>
                </a:solidFill>
                <a:latin typeface="Calibri"/>
              </a:rPr>
              <a:t>Рост стоимости 1 м² коммерческой недвижимости в г. Кемерово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80"/>
            <a:ext cx="3749040" cy="48768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48456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Calibri"/>
              </a:rPr>
              <a:t>Год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611880"/>
            <a:ext cx="3749040" cy="48768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3648456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Calibri"/>
              </a:rPr>
              <a:t>Диапазон стоимости ₽/м²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3611880"/>
            <a:ext cx="3749040" cy="48768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648456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Calibri"/>
              </a:rPr>
              <a:t>Рост за год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99560"/>
            <a:ext cx="3749040" cy="487680"/>
          </a:xfrm>
          <a:prstGeom prst="rect">
            <a:avLst/>
          </a:prstGeom>
          <a:solidFill>
            <a:srgbClr val="E8EEF8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2699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2021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099560"/>
            <a:ext cx="3749040" cy="487680"/>
          </a:xfrm>
          <a:prstGeom prst="rect">
            <a:avLst/>
          </a:prstGeom>
          <a:solidFill>
            <a:srgbClr val="E8EEF8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412699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55 000 – 70 000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4099560"/>
            <a:ext cx="3749040" cy="487680"/>
          </a:xfrm>
          <a:prstGeom prst="rect">
            <a:avLst/>
          </a:prstGeom>
          <a:solidFill>
            <a:srgbClr val="E8EEF8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412699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+8–10%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87240"/>
            <a:ext cx="3749040" cy="487680"/>
          </a:xfrm>
          <a:prstGeom prst="rect">
            <a:avLst/>
          </a:prstGeom>
          <a:solidFill>
            <a:srgbClr val="F4F6F9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1467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2022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587240"/>
            <a:ext cx="3749040" cy="487680"/>
          </a:xfrm>
          <a:prstGeom prst="rect">
            <a:avLst/>
          </a:prstGeom>
          <a:solidFill>
            <a:srgbClr val="F4F6F9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461467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65 000 – 85 000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4587240"/>
            <a:ext cx="3749040" cy="487680"/>
          </a:xfrm>
          <a:prstGeom prst="rect">
            <a:avLst/>
          </a:prstGeom>
          <a:solidFill>
            <a:srgbClr val="F4F6F9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461467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+12–18%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74920"/>
            <a:ext cx="3749040" cy="487680"/>
          </a:xfrm>
          <a:prstGeom prst="rect">
            <a:avLst/>
          </a:prstGeom>
          <a:solidFill>
            <a:srgbClr val="E8EEF8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10235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2023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5074920"/>
            <a:ext cx="3749040" cy="487680"/>
          </a:xfrm>
          <a:prstGeom prst="rect">
            <a:avLst/>
          </a:prstGeom>
          <a:solidFill>
            <a:srgbClr val="E8EEF8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510235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80 000 – 110 000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5074920"/>
            <a:ext cx="3749040" cy="487680"/>
          </a:xfrm>
          <a:prstGeom prst="rect">
            <a:avLst/>
          </a:prstGeom>
          <a:solidFill>
            <a:srgbClr val="E8EEF8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510235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+18–25%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562600"/>
            <a:ext cx="3749040" cy="487680"/>
          </a:xfrm>
          <a:prstGeom prst="rect">
            <a:avLst/>
          </a:prstGeom>
          <a:solidFill>
            <a:srgbClr val="F4F6F9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59003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2024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5562600"/>
            <a:ext cx="3749040" cy="487680"/>
          </a:xfrm>
          <a:prstGeom prst="rect">
            <a:avLst/>
          </a:prstGeom>
          <a:solidFill>
            <a:srgbClr val="F4F6F9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559003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95 000 – 135 000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5562600"/>
            <a:ext cx="3749040" cy="487680"/>
          </a:xfrm>
          <a:prstGeom prst="rect">
            <a:avLst/>
          </a:prstGeom>
          <a:solidFill>
            <a:srgbClr val="F4F6F9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559003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+15–22%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050280"/>
            <a:ext cx="3749040" cy="487680"/>
          </a:xfrm>
          <a:prstGeom prst="rect">
            <a:avLst/>
          </a:prstGeom>
          <a:solidFill>
            <a:srgbClr val="E8EEF8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07771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2025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6050280"/>
            <a:ext cx="3749040" cy="487680"/>
          </a:xfrm>
          <a:prstGeom prst="rect">
            <a:avLst/>
          </a:prstGeom>
          <a:solidFill>
            <a:srgbClr val="E8EEF8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607771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110 000 – 180 000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6050280"/>
            <a:ext cx="3749040" cy="487680"/>
          </a:xfrm>
          <a:prstGeom prst="rect">
            <a:avLst/>
          </a:prstGeom>
          <a:solidFill>
            <a:srgbClr val="E8EEF8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0" y="6077712"/>
            <a:ext cx="3657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07090F"/>
                </a:solidFill>
                <a:latin typeface="Calibri"/>
              </a:rPr>
              <a:t>+10–18%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РЫНОК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Кемерово — один из самых спортивных городов Сибири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52%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B8"/>
                </a:solidFill>
                <a:latin typeface="Calibri"/>
              </a:rPr>
              <a:t>Жителей Кузбасса регулярно занимаются спортом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7373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60,1%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743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B8"/>
                </a:solidFill>
                <a:latin typeface="Calibri"/>
              </a:rPr>
              <a:t>Систематически занимающихся к концу 2023 года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285 000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743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B8"/>
                </a:solidFill>
                <a:latin typeface="Calibri"/>
              </a:rPr>
              <a:t>Человек занимаются спортом в Кемерово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1247120" cy="254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90FF"/>
                </a:solidFill>
                <a:latin typeface="Calibri"/>
              </a:rPr>
              <a:t>ФОРМАТЫ СПОРТИВНЫХ ОБЪЕКТОВ ГОРОДА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• Государственные спортивные объекты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• Фитнес-центры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• Ледовые арены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• Базовые спортивные комплексы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90FF"/>
                </a:solidFill>
                <a:latin typeface="Calibri"/>
              </a:rPr>
              <a:t>ЧТО ОТСУТСТВУЕТ НА РЫНКЕ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• Точки притяжения для активной аудитории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• Крытые развлечения нового поколения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• Комплексы для семейного досуга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АУДИТОРИЯ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090F"/>
                </a:solidFill>
                <a:latin typeface="Calibri"/>
              </a:rPr>
              <a:t>Проект для тех, кто выбирает активную жизнь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365760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0" cy="254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7090F"/>
                </a:solidFill>
                <a:latin typeface="Calibri"/>
              </a:rPr>
              <a:t>МОЛОДЁЖЬ 18–35 ЛЕТ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Основная аудитория social sports. Выбирают эмоциональный досуг, комьюнити и впечатления. Активные пользователи соцсетей.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65760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457200" cy="254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7090F"/>
                </a:solidFill>
                <a:latin typeface="Calibri"/>
              </a:rPr>
              <a:t>СЕМЬИ С ДЕТЬМИ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Детские школы · Семейный отдых · Совместные активности. Высокий LTV — регулярные повторные визиты и абонементы.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554480"/>
            <a:ext cx="365760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554480"/>
            <a:ext cx="457200" cy="254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7090F"/>
                </a:solidFill>
                <a:latin typeface="Calibri"/>
              </a:rPr>
              <a:t>КОРПОРАТИВНЫЙ СЕГМЕНТ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3172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Компании тратят ~500–700 млн руб/год на тимбилдинги. Государственные компании возмещают до 70% трат на корпоративный спорт.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66"/>
                </a:solidFill>
                <a:latin typeface="Calibri"/>
              </a:rPr>
              <a:t>«Несмотря на высокий интерес к спорту, в городе практически отсутствуют современные пространства.»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ПЛЯЖНЫЙ СПОРТ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090F"/>
                </a:solidFill>
                <a:latin typeface="Calibri"/>
              </a:rPr>
              <a:t>Центр пляжных видов спорта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274320"/>
            <a:ext cx="5486400" cy="3657600"/>
          </a:xfrm>
          <a:prstGeom prst="rect">
            <a:avLst/>
          </a:prstGeom>
          <a:solidFill>
            <a:srgbClr val="2A2A3A"/>
          </a:solidFill>
          <a:ln w="12700">
            <a:solidFill>
              <a:srgbClr val="5555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777799"/>
                </a:solidFill>
                <a:latin typeface="Calibri"/>
              </a:rPr>
              <a:t>[ ФОТО: beach-1.jpg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7090F"/>
                </a:solidFill>
                <a:latin typeface="Calibri"/>
              </a:rPr>
              <a:t>5 КОРТОВ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  <a:latin typeface="Calibri"/>
              </a:rPr>
              <a:t>с беспыльным песком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7090F"/>
                </a:solidFill>
                <a:latin typeface="Calibri"/>
              </a:rPr>
              <a:t>1 300 М²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  <a:latin typeface="Calibri"/>
              </a:rPr>
              <a:t>площадь здания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669280" cy="254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ТЕХНОЛОГИИ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● Умные раздевалки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● Face ID вход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090F"/>
                </a:solidFill>
                <a:latin typeface="Calibri"/>
              </a:rPr>
              <a:t>● Безключевой доступ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669280" cy="26517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CAPEX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30 000 000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Возврат инвестиций: 3–4 года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Структура дохода: аренда кортов · event · детские тренировки · турниры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ПЛЯЖНЫЙ СПОРТ — ФИНАНСЫ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Финансовая модель — Центр пляжного спорта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03520" cy="1280160"/>
          </a:xfrm>
          <a:prstGeom prst="rect">
            <a:avLst/>
          </a:prstGeom>
          <a:solidFill>
            <a:srgbClr val="0D1526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CAPEX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30 000 000 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Возврат инвестиций: 3–4 года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СТРУКТУРА ДОХОДА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Аренда кортов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90FF"/>
                </a:solidFill>
                <a:latin typeface="Calibri"/>
              </a:rPr>
              <a:t>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575304"/>
            <a:ext cx="6400800" cy="18288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3575304"/>
            <a:ext cx="3520440" cy="1828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788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Event-направление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41788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90FF"/>
                </a:solidFill>
                <a:latin typeface="Calibri"/>
              </a:rP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4233672"/>
            <a:ext cx="6400800" cy="18288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4233672"/>
            <a:ext cx="1280160" cy="1828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371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Детские тренировки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8371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90FF"/>
                </a:solidFill>
                <a:latin typeface="Calibri"/>
              </a:rPr>
              <a:t>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892040"/>
            <a:ext cx="6400800" cy="18288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4892040"/>
            <a:ext cx="960120" cy="1828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955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Турниры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54955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90FF"/>
                </a:solidFill>
                <a:latin typeface="Calibri"/>
              </a:rPr>
              <a:t>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5550408"/>
            <a:ext cx="6400800" cy="18288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5550408"/>
            <a:ext cx="640080" cy="1828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6126480"/>
            <a:ext cx="2468880" cy="5029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8B8"/>
                </a:solidFill>
                <a:latin typeface="Calibri"/>
              </a:rPr>
              <a:t>Выручка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6126480"/>
            <a:ext cx="2468880" cy="5029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8B8"/>
                </a:solidFill>
                <a:latin typeface="Calibri"/>
              </a:rPr>
              <a:t>Кол-во клиентов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6126480"/>
            <a:ext cx="2468880" cy="5029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8B8"/>
                </a:solidFill>
                <a:latin typeface="Calibri"/>
              </a:rPr>
              <a:t>LTV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6126480"/>
            <a:ext cx="2468880" cy="5029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8B8"/>
                </a:solidFill>
                <a:latin typeface="Calibri"/>
              </a:rPr>
              <a:t>Загрузка кортов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ПЛЯЖНЫЙ СПОРТ — CAPEX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Инвестиции CAPEX — Центр пляжного спорта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16736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90FF"/>
                </a:solidFill>
                <a:latin typeface="Calibri"/>
              </a:rPr>
              <a:t>Категория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4175760" y="1280160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21480" y="1316736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90FF"/>
                </a:solidFill>
                <a:latin typeface="Calibri"/>
              </a:rPr>
              <a:t>Подкатегория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985760" y="1280160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31480" y="1316736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90FF"/>
                </a:solidFill>
                <a:latin typeface="Calibri"/>
              </a:rPr>
              <a:t>Сумма, руб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62298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89730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Помещение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5760" y="1762298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1480" y="1789730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Ремонт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5760" y="1762298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1480" y="1789730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11 068 211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44436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271868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Помещение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5760" y="2244436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1480" y="2271868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Песок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760" y="2244436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1480" y="2271868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5 871 200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26574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754006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Помещение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5760" y="2726574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1480" y="2754006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Свет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5760" y="2726574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1480" y="2754006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2 570 600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08712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236144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Помещение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75760" y="3208712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1480" y="3236144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Коммуникации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85760" y="3208712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31480" y="3236144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1 867 000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90850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718282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Помещение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5760" y="3690850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1480" y="3718282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Камеры и контроль доступа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85760" y="3690850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31480" y="3718282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935 000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172989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200421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Мебель и техника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75760" y="4172989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21480" y="4200421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Холл + Раздевалки + Ресепшн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85760" y="4172989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31480" y="4200421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3 129 465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655127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682559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Маркетинг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75760" y="4655127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1480" y="4682559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Сайт, реклама, прочее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85760" y="4655127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31480" y="4682559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1 250 000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137265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164697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ЗП до открытия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75760" y="5137265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21480" y="5164697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Администраторы, дизайнер, маркетолог, СММ, прочее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85760" y="5137265"/>
            <a:ext cx="3810000" cy="482138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31480" y="5164697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1 259 500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619403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646835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Прочее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75760" y="5619403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21480" y="5646835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Инвентарь, ИС, мерч, прочее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85760" y="5619403"/>
            <a:ext cx="3810000" cy="482138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31480" y="5646835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1 336 183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101541"/>
            <a:ext cx="3810000" cy="482138"/>
          </a:xfrm>
          <a:prstGeom prst="rect">
            <a:avLst/>
          </a:prstGeom>
          <a:solidFill>
            <a:srgbClr val="1A3A6A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128973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ИТОГО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75760" y="6101541"/>
            <a:ext cx="3810000" cy="482138"/>
          </a:xfrm>
          <a:prstGeom prst="rect">
            <a:avLst/>
          </a:prstGeom>
          <a:solidFill>
            <a:srgbClr val="1A3A6A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21480" y="6128973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7985760" y="6101541"/>
            <a:ext cx="3810000" cy="482138"/>
          </a:xfrm>
          <a:prstGeom prst="rect">
            <a:avLst/>
          </a:prstGeom>
          <a:solidFill>
            <a:srgbClr val="1A3A6A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31480" y="6128973"/>
            <a:ext cx="3718560" cy="48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29 717 159 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BF5"/>
                </a:solidFill>
                <a:latin typeface="Calibri"/>
              </a:rPr>
              <a:t>КАРТИНГ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C5BF5"/>
                </a:solidFill>
                <a:latin typeface="Calibri"/>
              </a:rPr>
              <a:t>Картинг с многоуровневой трассой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274320"/>
            <a:ext cx="5486400" cy="3840480"/>
          </a:xfrm>
          <a:prstGeom prst="rect">
            <a:avLst/>
          </a:prstGeom>
          <a:solidFill>
            <a:srgbClr val="2A2A3A"/>
          </a:solidFill>
          <a:ln w="12700">
            <a:solidFill>
              <a:srgbClr val="5555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777799"/>
                </a:solidFill>
                <a:latin typeface="Calibri"/>
              </a:rPr>
              <a:t>[ ФОТО: karting-1.jpg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Высокотехнологичные многоуровневые трассы. Скоростные заезды
на экологичных электрокартах с системой хронометража.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5669280" cy="731520"/>
          </a:xfrm>
          <a:prstGeom prst="rect">
            <a:avLst/>
          </a:prstGeom>
          <a:solidFill>
            <a:srgbClr val="0D1526"/>
          </a:solidFill>
          <a:ln w="12700">
            <a:solidFill>
              <a:srgbClr val="7C5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BF5"/>
                </a:solidFill>
                <a:latin typeface="Calibri"/>
              </a:rPr>
              <a:t>СКОРОСТЬ И ДРАЙВ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70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Разгон до 100 км/ч за 4 секунды — ощущения настоящего спорта.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27832"/>
            <a:ext cx="5669280" cy="731520"/>
          </a:xfrm>
          <a:prstGeom prst="rect">
            <a:avLst/>
          </a:prstGeom>
          <a:solidFill>
            <a:srgbClr val="0D1526"/>
          </a:solidFill>
          <a:ln w="12700">
            <a:solidFill>
              <a:srgbClr val="7C5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BF5"/>
                </a:solidFill>
                <a:latin typeface="Calibri"/>
              </a:rPr>
              <a:t>НАДЁЖНОСТЬ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53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Карты производятся в России из качественных комплектующих.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32504"/>
            <a:ext cx="5669280" cy="731520"/>
          </a:xfrm>
          <a:prstGeom prst="rect">
            <a:avLst/>
          </a:prstGeom>
          <a:solidFill>
            <a:srgbClr val="0D1526"/>
          </a:solidFill>
          <a:ln w="12700">
            <a:solidFill>
              <a:srgbClr val="7C5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965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BF5"/>
                </a:solidFill>
                <a:latin typeface="Calibri"/>
              </a:rPr>
              <a:t>БЫСТРОЕ ОБСЛУЖИВАНИЕ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799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Простая система зарядки и диагностики, минимум простоев.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37176"/>
            <a:ext cx="5669280" cy="731520"/>
          </a:xfrm>
          <a:prstGeom prst="rect">
            <a:avLst/>
          </a:prstGeom>
          <a:solidFill>
            <a:srgbClr val="0D1526"/>
          </a:solidFill>
          <a:ln w="12700">
            <a:solidFill>
              <a:srgbClr val="7C5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01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BF5"/>
                </a:solidFill>
                <a:latin typeface="Calibri"/>
              </a:rPr>
              <a:t>ЭКОЛОГИЧНОСТЬ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846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Без выхлопных газов. Комфортно для помещений, безопасно для детей.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41848"/>
            <a:ext cx="5669280" cy="731520"/>
          </a:xfrm>
          <a:prstGeom prst="rect">
            <a:avLst/>
          </a:prstGeom>
          <a:solidFill>
            <a:srgbClr val="0D1526"/>
          </a:solidFill>
          <a:ln w="12700">
            <a:solidFill>
              <a:srgbClr val="7C5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7058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BF5"/>
                </a:solidFill>
                <a:latin typeface="Calibri"/>
              </a:rPr>
              <a:t>ТЕЛЕМЕТРИЯ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Дистанционное ограничение скорости, хронометраж, детские модели.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BF5"/>
                </a:solidFill>
                <a:latin typeface="Calibri"/>
              </a:rPr>
              <a:t>КАРТИНГ — ФИНАНСЫ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5BF5"/>
                </a:solidFill>
                <a:latin typeface="Calibri"/>
              </a:rPr>
              <a:t>Финансовая модель — Картинг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03520" cy="1280160"/>
          </a:xfrm>
          <a:prstGeom prst="rect">
            <a:avLst/>
          </a:prstGeom>
          <a:solidFill>
            <a:srgbClr val="0D1526"/>
          </a:solidFill>
          <a:ln w="12700">
            <a:solidFill>
              <a:srgbClr val="7C5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BF5"/>
                </a:solidFill>
                <a:latin typeface="Calibri"/>
              </a:rPr>
              <a:t>CAPEX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66 000 000 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Возврат инвестиций: 5–6 лет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BF5"/>
                </a:solidFill>
                <a:latin typeface="Calibri"/>
              </a:rPr>
              <a:t>СТРУКТУРА ДОХОДА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Заезды  70%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575304"/>
            <a:ext cx="6400800" cy="18288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3575304"/>
            <a:ext cx="4480560" cy="182880"/>
          </a:xfrm>
          <a:prstGeom prst="rect">
            <a:avLst/>
          </a:prstGeom>
          <a:solidFill>
            <a:srgbClr val="7C5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788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Event  20%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233672"/>
            <a:ext cx="6400800" cy="18288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4233672"/>
            <a:ext cx="1280160" cy="182880"/>
          </a:xfrm>
          <a:prstGeom prst="rect">
            <a:avLst/>
          </a:prstGeom>
          <a:solidFill>
            <a:srgbClr val="A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371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Детские тренировки  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892040"/>
            <a:ext cx="6400800" cy="18288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4892040"/>
            <a:ext cx="640080" cy="182880"/>
          </a:xfrm>
          <a:prstGeom prst="rect">
            <a:avLst/>
          </a:prstGeom>
          <a:solidFill>
            <a:srgbClr val="C9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126480"/>
            <a:ext cx="2468880" cy="5029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8B8"/>
                </a:solidFill>
                <a:latin typeface="Calibri"/>
              </a:rPr>
              <a:t>Выручка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6126480"/>
            <a:ext cx="2468880" cy="5029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8B8"/>
                </a:solidFill>
                <a:latin typeface="Calibri"/>
              </a:rPr>
              <a:t>Кол-во клиентов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6126480"/>
            <a:ext cx="2468880" cy="5029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8B8"/>
                </a:solidFill>
                <a:latin typeface="Calibri"/>
              </a:rPr>
              <a:t>LTV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6126480"/>
            <a:ext cx="2468880" cy="5029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8B8"/>
                </a:solidFill>
                <a:latin typeface="Calibri"/>
              </a:rPr>
              <a:t>Загрузка трассы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BF5"/>
                </a:solidFill>
                <a:latin typeface="Calibri"/>
              </a:rPr>
              <a:t>КАРТИНГ — CAPEX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5BF5"/>
                </a:solidFill>
                <a:latin typeface="Calibri"/>
              </a:rPr>
              <a:t>Инвестиции CAPEX — Картинг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16736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5BF5"/>
                </a:solidFill>
                <a:latin typeface="Calibri"/>
              </a:rPr>
              <a:t>Категория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4175760" y="128016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21480" y="1316736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5BF5"/>
                </a:solidFill>
                <a:latin typeface="Calibri"/>
              </a:rPr>
              <a:t>Подкатегория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985760" y="128016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31480" y="1316736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5BF5"/>
                </a:solidFill>
                <a:latin typeface="Calibri"/>
              </a:rPr>
              <a:t>Сумма, руб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9451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219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Осн. оборудование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5760" y="179451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1480" y="18219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Машины (электрокарты)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5760" y="179451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1480" y="18219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24 800 000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08860"/>
            <a:ext cx="3810000" cy="51435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33629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Помещение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5760" y="2308860"/>
            <a:ext cx="3810000" cy="51435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1480" y="233629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Проектирование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760" y="2308860"/>
            <a:ext cx="3810000" cy="51435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1480" y="233629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580 000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2321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8506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Помещение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5760" y="282321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1480" y="28506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Ремонт + трасса + свет + коммуникации + камеры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5760" y="282321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1480" y="28506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36 700 000*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337560"/>
            <a:ext cx="3810000" cy="51435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36499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Маркетинг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75760" y="3337560"/>
            <a:ext cx="3810000" cy="51435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1480" y="336499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Сайт, реклама, прочее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85760" y="3337560"/>
            <a:ext cx="3810000" cy="51435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31480" y="336499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1 250 000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85191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8793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ЗП до открытия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5760" y="385191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1480" y="38793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Администраторы, дизайнер, механик, СММ, прочее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85760" y="3851910"/>
            <a:ext cx="3810000" cy="51435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31480" y="38793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1 440 500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366260"/>
            <a:ext cx="3810000" cy="51435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39369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Прочее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75760" y="4366260"/>
            <a:ext cx="3810000" cy="51435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21480" y="439369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Инвентарь, ИС, мерч, прочее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85760" y="4366260"/>
            <a:ext cx="3810000" cy="51435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31480" y="439369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1 227 500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880610"/>
            <a:ext cx="3810000" cy="514350"/>
          </a:xfrm>
          <a:prstGeom prst="rect">
            <a:avLst/>
          </a:prstGeom>
          <a:solidFill>
            <a:srgbClr val="281A4A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9080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ИТОГО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75760" y="4880610"/>
            <a:ext cx="3810000" cy="514350"/>
          </a:xfrm>
          <a:prstGeom prst="rect">
            <a:avLst/>
          </a:prstGeom>
          <a:solidFill>
            <a:srgbClr val="281A4A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1480" y="49080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7985760" y="4880610"/>
            <a:ext cx="3810000" cy="514350"/>
          </a:xfrm>
          <a:prstGeom prst="rect">
            <a:avLst/>
          </a:prstGeom>
          <a:solidFill>
            <a:srgbClr val="281A4A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31480" y="4908042"/>
            <a:ext cx="37185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66 000 000 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577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8B8"/>
                </a:solidFill>
                <a:latin typeface="Calibri"/>
              </a:rPr>
              <a:t>*Точная стоимость после проектирования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ФИНАНСЫ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090F"/>
                </a:solidFill>
                <a:latin typeface="Calibri"/>
              </a:rPr>
              <a:t>Финансовая модель комплекса на год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77240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0817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7090F"/>
                </a:solidFill>
                <a:latin typeface="Calibri"/>
              </a:rPr>
              <a:t>ВЫРУЧКА ЗА ГОД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371600"/>
            <a:ext cx="347472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40817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7090F"/>
                </a:solidFill>
                <a:latin typeface="Calibri"/>
              </a:rPr>
              <a:t>84 397 000 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7772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1965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   — Песок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78308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1965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7090F"/>
                </a:solidFill>
                <a:latin typeface="Calibri"/>
              </a:rPr>
              <a:t>29 480 000 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777240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3113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   — Картинг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194560"/>
            <a:ext cx="347472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3113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7090F"/>
                </a:solidFill>
                <a:latin typeface="Calibri"/>
              </a:rPr>
              <a:t>50 825 000 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7772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4261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   — Субаренда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60604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64261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7090F"/>
                </a:solidFill>
                <a:latin typeface="Calibri"/>
              </a:rPr>
              <a:t>1 932 000 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17520"/>
            <a:ext cx="777240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5409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   — Дополнительные услуги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017520"/>
            <a:ext cx="347472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5409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7090F"/>
                </a:solidFill>
                <a:latin typeface="Calibri"/>
              </a:rPr>
              <a:t>2 160 000 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29000"/>
            <a:ext cx="7772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6557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7090F"/>
                </a:solidFill>
                <a:latin typeface="Calibri"/>
              </a:rPr>
              <a:t>РАСХОДЫ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42900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46557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7090F"/>
                </a:solidFill>
                <a:latin typeface="Calibri"/>
              </a:rPr>
              <a:t>32 680 400 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0480"/>
            <a:ext cx="777240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7705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   — Песок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840480"/>
            <a:ext cx="347472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87705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7090F"/>
                </a:solidFill>
                <a:latin typeface="Calibri"/>
              </a:rPr>
              <a:t>13 218 400 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51960"/>
            <a:ext cx="7772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28853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   — Картинг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25196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28853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7090F"/>
                </a:solidFill>
                <a:latin typeface="Calibri"/>
              </a:rPr>
              <a:t>19 462 000 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663440"/>
            <a:ext cx="777240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70001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7090F"/>
                </a:solidFill>
                <a:latin typeface="Calibri"/>
              </a:rPr>
              <a:t>ОПЕРАЦИОННАЯ ПРИБЫЛЬ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663440"/>
            <a:ext cx="347472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70001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7090F"/>
                </a:solidFill>
                <a:latin typeface="Calibri"/>
              </a:rPr>
              <a:t>51 716 600 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74920"/>
            <a:ext cx="7772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11149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7090F"/>
                </a:solidFill>
                <a:latin typeface="Calibri"/>
              </a:rPr>
              <a:t>РАСХОДЫ УК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507492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511149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7090F"/>
                </a:solidFill>
                <a:latin typeface="Calibri"/>
              </a:rPr>
              <a:t>7 571 660 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486400"/>
            <a:ext cx="7772400" cy="411480"/>
          </a:xfrm>
          <a:prstGeom prst="rect">
            <a:avLst/>
          </a:prstGeom>
          <a:solidFill>
            <a:srgbClr val="E0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52297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90FF"/>
                </a:solidFill>
                <a:latin typeface="Calibri"/>
              </a:rPr>
              <a:t>EBITDA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5486400"/>
            <a:ext cx="3474720" cy="411480"/>
          </a:xfrm>
          <a:prstGeom prst="rect">
            <a:avLst/>
          </a:prstGeom>
          <a:solidFill>
            <a:srgbClr val="E0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552297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90FF"/>
                </a:solidFill>
                <a:latin typeface="Calibri"/>
              </a:rPr>
              <a:t>44 144 940 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897880"/>
            <a:ext cx="7772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93445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7090F"/>
                </a:solidFill>
                <a:latin typeface="Calibri"/>
              </a:rPr>
              <a:t>   — Эквайринг + Налоги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589788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593445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7090F"/>
                </a:solidFill>
                <a:latin typeface="Calibri"/>
              </a:rPr>
              <a:t>2 068 664 ₽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309360"/>
            <a:ext cx="7772400" cy="411480"/>
          </a:xfrm>
          <a:prstGeom prst="rect">
            <a:avLst/>
          </a:prstGeom>
          <a:solidFill>
            <a:srgbClr val="E0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34593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90FF"/>
                </a:solidFill>
                <a:latin typeface="Calibri"/>
              </a:rPr>
              <a:t>ЧИСТАЯ ПРИБЫЛЬ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6309360"/>
            <a:ext cx="3474720" cy="411480"/>
          </a:xfrm>
          <a:prstGeom prst="rect">
            <a:avLst/>
          </a:prstGeom>
          <a:solidFill>
            <a:srgbClr val="E0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634593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90FF"/>
                </a:solidFill>
                <a:latin typeface="Calibri"/>
              </a:rPr>
              <a:t>42 076 276 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ИНВЕСТОРАМ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Предложение для инвесторов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3200400" cy="41148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961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Общая сумма вложений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463040"/>
            <a:ext cx="2468880" cy="41148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9961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191 000 000 ₽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3200400" cy="41148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1109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  — Покупка здания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874520"/>
            <a:ext cx="2468880" cy="41148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1109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8B8"/>
                </a:solidFill>
                <a:latin typeface="Calibri"/>
              </a:rPr>
              <a:t>95 000 000 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3200400" cy="41148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2257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  — Центр пляжного спорта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286000"/>
            <a:ext cx="2468880" cy="41148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8B8"/>
                </a:solidFill>
                <a:latin typeface="Calibri"/>
              </a:rPr>
              <a:t>30 000 000 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97480"/>
            <a:ext cx="3200400" cy="41148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3405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  — Электрокартинг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697480"/>
            <a:ext cx="2468880" cy="41148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73405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8B8"/>
                </a:solidFill>
                <a:latin typeface="Calibri"/>
              </a:rPr>
              <a:t>66 000 000 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08960"/>
            <a:ext cx="3200400" cy="41148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4553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Минимальный вход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3108960"/>
            <a:ext cx="2468880" cy="41148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14553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20 000 000 ₽ = 10% доли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20440"/>
            <a:ext cx="3200400" cy="41148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55701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Возврат инвестиций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3520440"/>
            <a:ext cx="2468880" cy="41148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55701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60 месяцев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ROI ПО ГОДАМ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73736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773936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7014754" y="173736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0474" y="1773936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1588" y="173736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57308" y="1773936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1 год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08422" y="173736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4142" y="1773936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2 год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05257" y="173736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50977" y="1773936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3 год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02091" y="173736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7811" y="1773936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4 год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98925" y="173736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44645" y="1773936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5 год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13360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216103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Чистая прибыль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4754" y="213360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60474" y="216103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−210 381 380 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11588" y="213360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57308" y="216103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42 076 276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08422" y="213360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4142" y="216103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42 076 276 ₽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05257" y="213360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50977" y="216103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42 076 276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02091" y="213360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7811" y="216103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42 076 276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98925" y="2133600"/>
            <a:ext cx="796834" cy="396240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44645" y="216103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42 076 276 ₽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2529840"/>
            <a:ext cx="796834" cy="39624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255727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ROI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14754" y="2529840"/>
            <a:ext cx="796834" cy="39624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60474" y="255727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−%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1588" y="2529840"/>
            <a:ext cx="796834" cy="39624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57308" y="255727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22,03%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08422" y="2529840"/>
            <a:ext cx="796834" cy="39624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54142" y="255727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22,03%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05257" y="2529840"/>
            <a:ext cx="796834" cy="39624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50977" y="255727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22,03%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091" y="2529840"/>
            <a:ext cx="796834" cy="39624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47811" y="255727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22,03%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98925" y="2529840"/>
            <a:ext cx="796834" cy="396240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044645" y="2557272"/>
            <a:ext cx="70539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>
                <a:solidFill>
                  <a:srgbClr val="FFFFFF"/>
                </a:solidFill>
                <a:latin typeface="Calibri"/>
              </a:rPr>
              <a:t>22,03%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4160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КАПИТАЛИЗАЦИЯ ПРОЕКТА 2026–2031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4572000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4608576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Год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23260" y="4572000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68980" y="4608576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Ликвидность +12%/год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80760" y="4572000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26480" y="4608576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Доходы +5%/год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38260" y="4572000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3980" y="4608576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ИТОГО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4865914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4893346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23260" y="4865914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68980" y="4893346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95 000 000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80760" y="4865914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26480" y="4893346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42 076 276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38260" y="4865914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3980" y="4893346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227 645 460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59828"/>
            <a:ext cx="2857500" cy="293914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1480" y="5187260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23260" y="5159828"/>
            <a:ext cx="2857500" cy="293914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68980" y="5187260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106 400 000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80760" y="5159828"/>
            <a:ext cx="2857500" cy="293914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26480" y="5187260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44 180 090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38260" y="5159828"/>
            <a:ext cx="2857500" cy="293914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3980" y="5187260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245 677 733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5453742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1480" y="5481174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23260" y="5453742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68980" y="5481174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119 168 000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80760" y="5453742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26480" y="5481174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46 389 094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38260" y="5453742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3980" y="5481174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265 409 620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5747657"/>
            <a:ext cx="2857500" cy="293914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1480" y="5775089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2029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23260" y="5747657"/>
            <a:ext cx="2857500" cy="293914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68980" y="5775089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133 468 160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080760" y="5747657"/>
            <a:ext cx="2857500" cy="293914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26480" y="5775089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48 708 549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38260" y="5747657"/>
            <a:ext cx="2857500" cy="293914"/>
          </a:xfrm>
          <a:prstGeom prst="rect">
            <a:avLst/>
          </a:prstGeom>
          <a:solidFill>
            <a:srgbClr val="10182C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3980" y="5775089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287 021 861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5760" y="6041571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11480" y="6069003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2030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223260" y="6041571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68980" y="6069003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149 484 339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080760" y="6041571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26480" y="6069003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51 143 976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38260" y="6041571"/>
            <a:ext cx="2857500" cy="293914"/>
          </a:xfrm>
          <a:prstGeom prst="rect">
            <a:avLst/>
          </a:prstGeom>
          <a:solidFill>
            <a:srgbClr val="0D1526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983980" y="6069003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310 715 725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5760" y="6335485"/>
            <a:ext cx="2857500" cy="293914"/>
          </a:xfrm>
          <a:prstGeom prst="rect">
            <a:avLst/>
          </a:prstGeom>
          <a:solidFill>
            <a:srgbClr val="1A3A6A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11480" y="6362917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2031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23260" y="6335485"/>
            <a:ext cx="2857500" cy="293914"/>
          </a:xfrm>
          <a:prstGeom prst="rect">
            <a:avLst/>
          </a:prstGeom>
          <a:solidFill>
            <a:srgbClr val="1A3A6A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68980" y="6362917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167 422 460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080760" y="6335485"/>
            <a:ext cx="2857500" cy="293914"/>
          </a:xfrm>
          <a:prstGeom prst="rect">
            <a:avLst/>
          </a:prstGeom>
          <a:solidFill>
            <a:srgbClr val="1A3A6A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126480" y="6362917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53 701 175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38260" y="6335485"/>
            <a:ext cx="2857500" cy="293914"/>
          </a:xfrm>
          <a:prstGeom prst="rect">
            <a:avLst/>
          </a:prstGeom>
          <a:solidFill>
            <a:srgbClr val="1A3A6A"/>
          </a:solidFill>
          <a:ln w="6350">
            <a:solidFill>
              <a:srgbClr val="2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83980" y="6362917"/>
            <a:ext cx="2766060" cy="29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336 715 415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A2A3A"/>
          </a:solidFill>
          <a:ln w="12700">
            <a:solidFill>
              <a:srgbClr val="5555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777799"/>
                </a:solidFill>
                <a:latin typeface="Calibri"/>
              </a:rPr>
              <a:t>[ ФОТО: anton.jpg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КОНТАКТ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46304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ЯНКЕВИЧ
АНТОН ПАВЛОВИЧ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6858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154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154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8B8"/>
                </a:solidFill>
                <a:latin typeface="Calibri"/>
              </a:rPr>
              <a:t>antonyankevich@gmail.com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Телефон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840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8B8"/>
                </a:solidFill>
                <a:latin typeface="Calibri"/>
              </a:rPr>
              <a:t>8 (933) 333-43-99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526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90FF"/>
                </a:solidFill>
                <a:latin typeface="Calibri"/>
              </a:rPr>
              <a:t>Telegram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4526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8B8"/>
                </a:solidFill>
                <a:latin typeface="Calibri"/>
              </a:rPr>
              <a:t>@ToniF03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5303520"/>
            <a:ext cx="2926080" cy="5486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3309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НАПИСАТЬ В TELEGRAM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00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A8B8"/>
                </a:solidFill>
                <a:latin typeface="Calibri"/>
              </a:rPr>
              <a:t>PROGROUP  ·  ©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